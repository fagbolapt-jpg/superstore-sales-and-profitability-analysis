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74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282A2">
              <a:alpha val="25000"/>
            </a:srgbClr>
          </a:solidFill>
          <a:ln w="12700">
            <a:solidFill>
              <a:srgbClr val="1282A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0ABFBC">
              <a:alpha val="20000"/>
            </a:srgbClr>
          </a:solidFill>
          <a:ln w="12700">
            <a:solidFill>
              <a:srgbClr val="0ABFBC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02920" y="32004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Exploration of Revenue, Profit, and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Trends Across Regions, Categories, and Segments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282A2">
              <a:alpha val="70000"/>
            </a:srgbClr>
          </a:solidFill>
          <a:ln w="12700">
            <a:solidFill>
              <a:srgbClr val="1282A2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Fagbola  |  Data Analytics Intern  AnalystLab  |  Power BI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82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9,994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665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2344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82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0665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82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0665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2022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2344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325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82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7512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0665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E-commerce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2999232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Superstore dataset is a widely used retail sales dataset that simulates a US-based fictional e-commerce store. It captures four years of transaction records spanning multiple product categories, customer segments, and geographic regions.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60604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EBF5FB"/>
          </a:solidFill>
          <a:ln w="12700">
            <a:solidFill>
              <a:srgbClr val="BEE3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Columns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Order Date, Ship Date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Name, Segment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State, City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Sub-Category, Product Name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Quantity, Discount, Profit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4747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business is generating millions in sales but struggling to identify which products, regions, and customer segments are actually driving profitability — and which are eroding it through discounting and returns.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32640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Gaps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High-revenue products may carry negative margins. Discounting practices are not evaluated against actual profit impact.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92040" y="23317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32640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Blind Spots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74920" y="2697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lack visibility into which states or cities are underperforming relative to their sales volume.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32640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Confusion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977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Consumer, Corporate, and Home Office segments receive the same strategy despite different purchasing behaviours.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92040" y="36118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32640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492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Mix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74920" y="3977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between Technology, Furniture, and Office Supplies contributions is unclear, making resource allocation difficult.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Defined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98448"/>
            <a:ext cx="384048" cy="384048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5819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28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SUM(Sales)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revenue generated from all transactions across the period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29844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1298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5819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SUM(Profit)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after discounts and product cost deductions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298448"/>
            <a:ext cx="384048" cy="384048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1298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Margin 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15819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÷ Sales × 100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of sales in generating profit; key health indicator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60604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715768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2715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29992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COUNT(Order ID)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unique orders placed, indicating demand levels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60604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2715768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2715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Discount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40480" y="29992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AVG(Discount)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rate applied; tracks pricing discipline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60604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271576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12280" y="2715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Category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12280" y="29992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Category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revenue across Technology, Furniture, Office Supplies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Interactive Dashboard — Superstore Sales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3108960"/>
          </a:xfrm>
          <a:prstGeom prst="roundRect">
            <a:avLst>
              <a:gd name="adj" fmla="val 3529"/>
            </a:avLst>
          </a:prstGeom>
          <a:solidFill>
            <a:srgbClr val="0D1B2A"/>
          </a:solidFill>
          <a:ln w="12700">
            <a:solidFill>
              <a:srgbClr val="1282A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801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32640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075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$2.30M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36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12801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32640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3075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636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32640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075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12.47%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1636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12801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32640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3075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9,994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1636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210312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 &amp; Sub-Category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487168"/>
            <a:ext cx="3200400" cy="256032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2871216"/>
            <a:ext cx="2468880" cy="256032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871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255264"/>
            <a:ext cx="192024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0680" y="210312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 w="12700">
            <a:solidFill>
              <a:srgbClr val="1D4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148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Region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06440" y="2468880"/>
            <a:ext cx="1645920" cy="1645920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2487168"/>
            <a:ext cx="1097280" cy="1645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2487168"/>
            <a:ext cx="137160" cy="13716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24871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60920" y="2807208"/>
            <a:ext cx="137160" cy="137160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2807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60920" y="3127248"/>
            <a:ext cx="137160" cy="137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3127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60920" y="3447288"/>
            <a:ext cx="137160" cy="137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34472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343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Add your actual Power BI screenshot by replacing this slide's background image or inserting a screenshot above these elements.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E8F6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1252728"/>
            <a:ext cx="402336" cy="402336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52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1234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Leads Revenue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6002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top-performing category by both sales and profit, contributing ~36% of total revenue. Phones and Copiers are the strongest sub-categories.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6592" y="23774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73752" y="2487168"/>
            <a:ext cx="402336" cy="40233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73752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76672" y="2468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 Has Low Profit Margin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3752" y="28346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being the second-highest in sales, Furniture has the lowest profit margin — heavily impacted by discounting in Tables and Bookcases, which often sell at a loss.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361188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EF9E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1480" y="3721608"/>
            <a:ext cx="402336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721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14400" y="3703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 Region is the Top Performer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" y="40690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region generates the highest sales and profit. California alone accounts for a disproportionately large share of revenue.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36592" y="114300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EAFA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73752" y="1252728"/>
            <a:ext cx="402336" cy="40233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73752" y="1252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76672" y="1234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Segment Dominates Orders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73752" y="16002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segment places the most orders (~51%) but Corporate customers tend to have higher average order values and better margins.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23774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F5EE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11480" y="2487168"/>
            <a:ext cx="402336" cy="402336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14400" y="2468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Discounts Hurt Profitability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11480" y="28346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discounts above 30% are consistently unprofitable. The correlation between discount depth and negative profit is clear across all categories.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36592" y="361188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73752" y="3721608"/>
            <a:ext cx="402336" cy="402336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73752" y="3721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76672" y="3703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is the Peak Sales Period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73752" y="40690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and December consistently spike in sales across all years, driven by holiday demand — especially in Technology and Office Supplies.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1170432"/>
            <a:ext cx="384048" cy="38404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5840" y="1069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Discounts at 20%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34416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discount ceiling policy. Data shows profit turns negative beyond 30% discounts across all categories. Review pricing authority for sales teams.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182880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0D1B2A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1993392"/>
            <a:ext cx="384048" cy="384048"/>
          </a:xfrm>
          <a:prstGeom prst="ellipse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82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More in Technology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21671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yields the highest margins. Increase inventory depth for Phones and Copiers ahead of Q4, and create bundled upsell offers for Corporate customers.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265176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816352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0584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Furniture Losses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299008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Tables and Bookcases sub-categories. Either re-price, reduce supplier cost, or stop discounting these lines below margin thresholds.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" y="347472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0D1B2A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3639312"/>
            <a:ext cx="384048" cy="384048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05840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BF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the South Region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05840" y="38130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South has lower sales and profit relative to other regions. A targeted regional marketing and distribution strategy could unlock growth.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65760" y="429768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0D1B2A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2920" y="446227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05840" y="4361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 Corporate Segment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05840" y="46360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customers have higher order values. Introduce a loyalty or account management programme to grow retention and repeat purchasing from this segment.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82A2"/>
          </a:solidFill>
          <a:ln w="12700">
            <a:solidFill>
              <a:srgbClr val="1282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280160"/>
            <a:ext cx="475488" cy="47548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Modelling Complexity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80136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correct relationships between dimension and fact tables in Power BI required careful attention to avoid ambiguous joins and incorrect filter context propagation.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280160"/>
            <a:ext cx="475488" cy="47548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280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 Accuracy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80136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accurate DAX for time-intelligence functions (YoY comparisons, MTD) and conditional aggregations demanded multiple iterations and thorough cross-validation.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3017520"/>
            <a:ext cx="475488" cy="47548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017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vs. Profit Visualisation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353872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the non-linear relationship between discount depth and profit in a way that was visually clear for a non-technical audience required careful chart selection.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017520"/>
            <a:ext cx="475488" cy="47548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3017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Layout &amp; UX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353872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information density with readability — avoiding clutter while still surfacing all six KPIs, regional views, and category breakdowns on a single canvas.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282A2">
              <a:alpha val="20000"/>
            </a:srgbClr>
          </a:solidFill>
          <a:ln w="12700">
            <a:solidFill>
              <a:srgbClr val="1282A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ABFBC">
              <a:alpha val="15000"/>
            </a:srgbClr>
          </a:solidFill>
          <a:ln w="12700">
            <a:solidFill>
              <a:srgbClr val="0ABFBC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286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demonstrated how Power BI can transform raw transactional data into actionable business intelligence for a retail operation.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642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Superstore dataset provided rich, multi-dimensional data to build a meaningful and visually engaging dashboard.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1396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KPIs were identified and tracked across categories, regions, and customer segments.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6151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— particularly around discounting, furniture losses, and regional gaps — offer real strategic value.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090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B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A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design followed a clear UX hierarchy: from headline KPIs down to drill-through insights.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371600" y="4160520"/>
            <a:ext cx="6400800" cy="685800"/>
          </a:xfrm>
          <a:prstGeom prst="roundRect">
            <a:avLst>
              <a:gd name="adj" fmla="val 20000"/>
            </a:avLst>
          </a:prstGeom>
          <a:solidFill>
            <a:srgbClr val="1282A2">
              <a:alpha val="80000"/>
            </a:srgbClr>
          </a:solidFill>
          <a:ln w="12700">
            <a:solidFill>
              <a:srgbClr val="0ABF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42062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  •  Patricia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Fagbola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AnalystLab </a:t>
            </a: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978</Words>
  <Application>Microsoft Office PowerPoint</Application>
  <PresentationFormat>On-screen Show (16:9)</PresentationFormat>
  <Paragraphs>147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Analysis</dc:title>
  <dc:subject>PptxGenJS Presentation</dc:subject>
  <dc:creator>Patricia Fagbola</dc:creator>
  <cp:lastModifiedBy>patriliciousfabgus@gmail.com</cp:lastModifiedBy>
  <cp:revision>2</cp:revision>
  <dcterms:created xsi:type="dcterms:W3CDTF">2026-06-29T23:08:56Z</dcterms:created>
  <dcterms:modified xsi:type="dcterms:W3CDTF">2026-06-29T23:12:03Z</dcterms:modified>
</cp:coreProperties>
</file>